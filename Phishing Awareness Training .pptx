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62" r:id="rId3"/>
    <p:sldId id="256" r:id="rId4"/>
    <p:sldId id="257" r:id="rId5"/>
    <p:sldId id="258" r:id="rId6"/>
    <p:sldId id="263" r:id="rId7"/>
    <p:sldId id="259" r:id="rId8"/>
    <p:sldId id="260" r:id="rId9"/>
    <p:sldId id="26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189980"/>
          </a:xfrm>
        </p:spPr>
        <p:txBody>
          <a:bodyPr/>
          <a:p>
            <a:pPr algn="ctr"/>
            <a:r>
              <a:rPr 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Module 1 – Introduction to Phishing</a:t>
            </a:r>
            <a:endParaRPr 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Phishing Awareness Training</a:t>
            </a:r>
            <a:endParaRPr lang="zh-CN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Protecting Individuals &amp; Organizations from Email Attacks</a:t>
            </a:r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j-ea"/>
                <a:cs typeface="+mj-ea"/>
              </a:rPr>
              <a:t>What is Phishing?</a:t>
            </a:r>
            <a:endParaRPr 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Phishing is a cyberattack where attackers impersonate trusted organizations to:</a:t>
            </a:r>
            <a:endParaRPr lang="en-US"/>
          </a:p>
          <a:p>
            <a:endParaRPr lang="en-US"/>
          </a:p>
          <a:p>
            <a:r>
              <a:rPr lang="en-US"/>
              <a:t>Steal login credentials</a:t>
            </a:r>
            <a:endParaRPr lang="en-US"/>
          </a:p>
          <a:p>
            <a:endParaRPr lang="en-US"/>
          </a:p>
          <a:p>
            <a:r>
              <a:rPr lang="en-US"/>
              <a:t>Capture banking information</a:t>
            </a:r>
            <a:endParaRPr lang="en-US"/>
          </a:p>
          <a:p>
            <a:endParaRPr lang="en-US"/>
          </a:p>
          <a:p>
            <a:r>
              <a:rPr lang="en-US"/>
              <a:t>Install malware</a:t>
            </a:r>
            <a:endParaRPr lang="en-US"/>
          </a:p>
          <a:p>
            <a:endParaRPr lang="en-US"/>
          </a:p>
          <a:p>
            <a:r>
              <a:rPr lang="en-US"/>
              <a:t>Gain access to corporate systems</a:t>
            </a:r>
            <a:endParaRPr lang="en-US"/>
          </a:p>
          <a:p>
            <a:endParaRPr lang="en-US"/>
          </a:p>
          <a:p>
            <a:r>
              <a:rPr lang="en-US"/>
              <a:t>Target: Human trust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j-ea"/>
                <a:cs typeface="+mj-ea"/>
                <a:sym typeface="+mn-ea"/>
              </a:rPr>
              <a:t>Why Phishing Matters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endParaRPr lang="en-US"/>
          </a:p>
          <a:p>
            <a:r>
              <a:rPr lang="en-US"/>
              <a:t>90%+ of breaches start with phishing</a:t>
            </a:r>
            <a:endParaRPr lang="en-US"/>
          </a:p>
          <a:p>
            <a:endParaRPr lang="en-US"/>
          </a:p>
          <a:p>
            <a:r>
              <a:rPr lang="en-US"/>
              <a:t>Causes financial loss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Leads to ransomware infections</a:t>
            </a:r>
            <a:endParaRPr lang="en-US"/>
          </a:p>
          <a:p>
            <a:endParaRPr lang="en-US"/>
          </a:p>
          <a:p>
            <a:r>
              <a:rPr lang="en-US"/>
              <a:t>Damages company reputation</a:t>
            </a:r>
            <a:endParaRPr lang="en-US"/>
          </a:p>
          <a:p>
            <a:endParaRPr lang="en-US"/>
          </a:p>
          <a:p>
            <a:r>
              <a:rPr lang="en-US"/>
              <a:t>One click can compromise an entire organization.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873115"/>
          </a:xfrm>
        </p:spPr>
        <p:txBody>
          <a:bodyPr/>
          <a:p>
            <a:pPr algn="ctr"/>
            <a:r>
              <a:rPr 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Module 2 – Recognizing Phishing Emails</a:t>
            </a:r>
            <a:endParaRPr 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j-ea"/>
                <a:cs typeface="+mj-ea"/>
              </a:rPr>
              <a:t>Common Red Flags</a:t>
            </a:r>
            <a:endParaRPr 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⚠ Urgent language</a:t>
            </a:r>
            <a:endParaRPr lang="en-US"/>
          </a:p>
          <a:p>
            <a:pPr marL="0" indent="0">
              <a:buNone/>
            </a:pPr>
            <a:r>
              <a:rPr lang="en-US"/>
              <a:t>⚠ Threats or fear tactics</a:t>
            </a:r>
            <a:endParaRPr lang="en-US"/>
          </a:p>
          <a:p>
            <a:pPr marL="0" indent="0">
              <a:buNone/>
            </a:pPr>
            <a:r>
              <a:rPr lang="en-US"/>
              <a:t>⚠ Unusual sender address</a:t>
            </a:r>
            <a:endParaRPr lang="en-US"/>
          </a:p>
          <a:p>
            <a:pPr marL="0" indent="0">
              <a:buNone/>
            </a:pPr>
            <a:r>
              <a:rPr lang="en-US"/>
              <a:t>⚠ Grammar mistakes</a:t>
            </a:r>
            <a:endParaRPr lang="en-US"/>
          </a:p>
          <a:p>
            <a:pPr marL="0" indent="0">
              <a:buNone/>
            </a:pPr>
            <a:r>
              <a:rPr lang="en-US"/>
              <a:t>⚠ Unexpected attachments</a:t>
            </a:r>
            <a:endParaRPr lang="en-US"/>
          </a:p>
          <a:p>
            <a:pPr marL="0" indent="0">
              <a:buNone/>
            </a:pPr>
            <a:r>
              <a:rPr lang="en-US"/>
              <a:t>⚠ Suspicious links</a:t>
            </a:r>
            <a:endParaRPr lang="en-US"/>
          </a:p>
          <a:p>
            <a:pPr marL="0" indent="0">
              <a:buNone/>
            </a:pPr>
            <a:r>
              <a:rPr lang="en-US"/>
              <a:t>Example:</a:t>
            </a:r>
            <a:endParaRPr lang="en-US"/>
          </a:p>
          <a:p>
            <a:pPr marL="0" indent="0">
              <a:buNone/>
            </a:pPr>
            <a:r>
              <a:rPr lang="en-US"/>
              <a:t>support@paypa1.com </a:t>
            </a:r>
            <a:r>
              <a:rPr lang="en-US">
                <a:latin typeface="Arial" panose="020B0604020202020204" pitchFamily="34" charset="0"/>
              </a:rPr>
              <a:t>×</a:t>
            </a:r>
            <a:endParaRPr lang="en-US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/>
              <a:t>support@paypal.com  </a:t>
            </a:r>
            <a:r>
              <a:rPr lang="en-US">
                <a:latin typeface="东文宋体" charset="0"/>
                <a:cs typeface="东文宋体" charset="0"/>
                <a:sym typeface="+mn-ea"/>
              </a:rPr>
              <a:t>√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✅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j-ea"/>
                <a:cs typeface="+mj-ea"/>
              </a:rPr>
              <a:t>Inspect the Sender</a:t>
            </a:r>
            <a:endParaRPr 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Attackers use: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Look-alike domains (amaz0n.com)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Misspellings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Free email providers pretending to be companies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Always verify domain spelling carefully.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j-ea"/>
                <a:cs typeface="+mj-ea"/>
              </a:rPr>
              <a:t>Hover Before Clicking</a:t>
            </a:r>
            <a:endParaRPr lang="en-US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Before clicking any link:</a:t>
            </a:r>
            <a:endParaRPr lang="en-US"/>
          </a:p>
          <a:p>
            <a:r>
              <a:rPr lang="en-US"/>
              <a:t>Hover over it</a:t>
            </a:r>
            <a:endParaRPr lang="en-US"/>
          </a:p>
          <a:p>
            <a:r>
              <a:rPr lang="en-US"/>
              <a:t>Check the full URL</a:t>
            </a:r>
            <a:endParaRPr lang="en-US"/>
          </a:p>
          <a:p>
            <a:r>
              <a:rPr lang="en-US"/>
              <a:t>Look for HTTPS</a:t>
            </a:r>
            <a:endParaRPr lang="en-US"/>
          </a:p>
          <a:p>
            <a:r>
              <a:rPr lang="en-US"/>
              <a:t>Verify the domain</a:t>
            </a:r>
            <a:endParaRPr lang="en-US"/>
          </a:p>
          <a:p>
            <a:endParaRPr lang="en-US"/>
          </a:p>
          <a:p>
            <a:r>
              <a:rPr lang="en-US"/>
              <a:t>Fake example:</a:t>
            </a:r>
            <a:endParaRPr lang="en-US"/>
          </a:p>
          <a:p>
            <a:r>
              <a:rPr lang="en-US"/>
              <a:t>www.netflix-security-alert.com</a:t>
            </a:r>
            <a:endParaRPr lang="en-US"/>
          </a:p>
          <a:p>
            <a:r>
              <a:rPr lang="en-US"/>
              <a:t>Real:</a:t>
            </a:r>
            <a:endParaRPr lang="en-US"/>
          </a:p>
          <a:p>
            <a:r>
              <a:rPr lang="en-US"/>
              <a:t>www.netflix.com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222365"/>
          </a:xfrm>
        </p:spPr>
        <p:txBody>
          <a:bodyPr/>
          <a:p>
            <a:r>
              <a:rPr 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Module 3 – Identifying Fake Websites</a:t>
            </a:r>
            <a:endParaRPr 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Signs of Fake Websites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l"/>
            <a:r>
              <a:rPr lang="en-US"/>
              <a:t>No HTTPS</a:t>
            </a:r>
            <a:endParaRPr lang="en-US"/>
          </a:p>
          <a:p>
            <a:r>
              <a:rPr lang="en-US"/>
              <a:t>Strange domain name</a:t>
            </a:r>
            <a:endParaRPr lang="en-US"/>
          </a:p>
          <a:p>
            <a:r>
              <a:rPr lang="en-US"/>
              <a:t>Poor design or broken images</a:t>
            </a:r>
            <a:endParaRPr lang="en-US"/>
          </a:p>
          <a:p>
            <a:r>
              <a:rPr lang="en-US"/>
              <a:t>Asks for password immediately</a:t>
            </a:r>
            <a:endParaRPr lang="en-US"/>
          </a:p>
          <a:p>
            <a:r>
              <a:rPr lang="en-US"/>
              <a:t>Too-good-to-be-true offers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Domain Tricks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attackers use:</a:t>
            </a:r>
            <a:endParaRPr lang="en-US"/>
          </a:p>
          <a:p>
            <a:endParaRPr lang="en-US"/>
          </a:p>
          <a:p>
            <a:r>
              <a:rPr lang="en-US"/>
              <a:t>Typosquatting (goggle.com)</a:t>
            </a:r>
            <a:endParaRPr lang="en-US"/>
          </a:p>
          <a:p>
            <a:endParaRPr lang="en-US"/>
          </a:p>
          <a:p>
            <a:r>
              <a:rPr lang="en-US"/>
              <a:t>Subdomains (paypal.login-alert.com)</a:t>
            </a:r>
            <a:endParaRPr lang="en-US"/>
          </a:p>
          <a:p>
            <a:endParaRPr lang="en-US"/>
          </a:p>
          <a:p>
            <a:r>
              <a:rPr lang="en-US"/>
              <a:t>Extra words (bankofamerica-security.net)</a:t>
            </a:r>
            <a:endParaRPr lang="en-US"/>
          </a:p>
          <a:p>
            <a:endParaRPr lang="en-US"/>
          </a:p>
          <a:p>
            <a:r>
              <a:rPr lang="en-US"/>
              <a:t>Always read domains from right to left.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016625"/>
          </a:xfrm>
        </p:spPr>
        <p:txBody>
          <a:bodyPr/>
          <a:p>
            <a:r>
              <a:rPr 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Module 4 – Social Engineering Tactics</a:t>
            </a:r>
            <a:endParaRPr 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What is Social Engineering?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/>
              <a:t>Social engineering manipulates human psychology instead of hacking systems.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Attackers exploit:</a:t>
            </a:r>
            <a:endParaRPr lang="en-US"/>
          </a:p>
          <a:p>
            <a:endParaRPr lang="en-US"/>
          </a:p>
          <a:p>
            <a:r>
              <a:rPr lang="en-US"/>
              <a:t>Fear</a:t>
            </a:r>
            <a:endParaRPr lang="en-US"/>
          </a:p>
          <a:p>
            <a:endParaRPr lang="en-US"/>
          </a:p>
          <a:p>
            <a:r>
              <a:rPr lang="en-US"/>
              <a:t>Urgency</a:t>
            </a:r>
            <a:endParaRPr lang="en-US"/>
          </a:p>
          <a:p>
            <a:endParaRPr lang="en-US"/>
          </a:p>
          <a:p>
            <a:r>
              <a:rPr lang="en-US"/>
              <a:t>Authority</a:t>
            </a:r>
            <a:endParaRPr lang="en-US"/>
          </a:p>
          <a:p>
            <a:endParaRPr lang="en-US"/>
          </a:p>
          <a:p>
            <a:r>
              <a:rPr lang="en-US"/>
              <a:t>Curiosity</a:t>
            </a:r>
            <a:endParaRPr lang="en-US"/>
          </a:p>
          <a:p>
            <a:endParaRPr lang="en-US"/>
          </a:p>
          <a:p>
            <a:r>
              <a:rPr lang="en-US"/>
              <a:t>Greed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Common Tactics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1️⃣ Urgency</a:t>
            </a:r>
            <a:endParaRPr lang="en-US"/>
          </a:p>
          <a:p>
            <a:r>
              <a:rPr lang="en-US"/>
              <a:t>"Your account will be locked in 30 minutes!"</a:t>
            </a:r>
            <a:endParaRPr lang="en-US"/>
          </a:p>
          <a:p>
            <a:pPr marL="0" indent="0">
              <a:buNone/>
            </a:pPr>
            <a:r>
              <a:rPr lang="en-US"/>
              <a:t>2️⃣ Authority</a:t>
            </a:r>
            <a:endParaRPr lang="en-US"/>
          </a:p>
          <a:p>
            <a:r>
              <a:rPr lang="en-US"/>
              <a:t>"This is IT. Send your password immediately."</a:t>
            </a:r>
            <a:endParaRPr lang="en-US"/>
          </a:p>
          <a:p>
            <a:pPr marL="0" indent="0">
              <a:buNone/>
            </a:pPr>
            <a:r>
              <a:rPr lang="en-US"/>
              <a:t>3️⃣ Fear</a:t>
            </a:r>
            <a:endParaRPr lang="en-US"/>
          </a:p>
          <a:p>
            <a:r>
              <a:rPr lang="en-US"/>
              <a:t>"Unusual login detected."</a:t>
            </a:r>
            <a:endParaRPr lang="en-US"/>
          </a:p>
          <a:p>
            <a:pPr marL="0" indent="0">
              <a:buNone/>
            </a:pPr>
            <a:r>
              <a:rPr lang="en-US"/>
              <a:t>4️⃣ Curiosity</a:t>
            </a:r>
            <a:endParaRPr lang="en-US"/>
          </a:p>
          <a:p>
            <a:r>
              <a:rPr lang="en-US"/>
              <a:t>"Salary revision list attached."</a:t>
            </a:r>
            <a:endParaRPr lang="en-US"/>
          </a:p>
          <a:p>
            <a:pPr marL="0" indent="0">
              <a:buNone/>
            </a:pPr>
            <a:r>
              <a:rPr lang="en-US"/>
              <a:t>5️⃣ Reward</a:t>
            </a:r>
            <a:endParaRPr lang="en-US"/>
          </a:p>
          <a:p>
            <a:r>
              <a:rPr lang="en-US"/>
              <a:t>"You won a free phone!"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954395"/>
          </a:xfrm>
        </p:spPr>
        <p:txBody>
          <a:bodyPr/>
          <a:p>
            <a:r>
              <a:rPr 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Module 5 – Real-World Examples</a:t>
            </a:r>
            <a:endParaRPr 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Target Data Breach (2013)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Attack started with phishing email to HVAC vendor.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Company: Target Corporation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Result:</a:t>
            </a:r>
            <a:endParaRPr lang="en-US"/>
          </a:p>
          <a:p>
            <a:endParaRPr lang="en-US"/>
          </a:p>
          <a:p>
            <a:r>
              <a:rPr lang="en-US"/>
              <a:t>40+ million credit cards stolen</a:t>
            </a:r>
            <a:endParaRPr lang="en-US"/>
          </a:p>
          <a:p>
            <a:endParaRPr lang="en-US"/>
          </a:p>
          <a:p>
            <a:r>
              <a:rPr lang="en-US"/>
              <a:t>Massive financial damage</a:t>
            </a:r>
            <a:endParaRPr lang="en-US"/>
          </a:p>
          <a:p>
            <a:endParaRPr lang="en-US"/>
          </a:p>
          <a:p>
            <a:r>
              <a:rPr lang="en-US"/>
              <a:t>Root cause: Stolen credentials via phishing.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Twitter Bitcoin Scam (2020)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Company: Twitter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Attackers used phone-based phishing (vishing) to access internal tools.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Result:</a:t>
            </a:r>
            <a:endParaRPr lang="en-US"/>
          </a:p>
          <a:p>
            <a:endParaRPr lang="en-US"/>
          </a:p>
          <a:p>
            <a:r>
              <a:rPr lang="en-US"/>
              <a:t>High-profile accounts hijacked</a:t>
            </a:r>
            <a:endParaRPr lang="en-US"/>
          </a:p>
          <a:p>
            <a:endParaRPr lang="en-US"/>
          </a:p>
          <a:p>
            <a:r>
              <a:rPr lang="en-US"/>
              <a:t>Cryptocurrency fraud</a:t>
            </a:r>
            <a:endParaRPr lang="en-US"/>
          </a:p>
          <a:p>
            <a:endParaRPr lang="en-US"/>
          </a:p>
          <a:p>
            <a:r>
              <a:rPr lang="en-US"/>
              <a:t>Lesson: Even tech companies can fall victim.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975350"/>
          </a:xfrm>
        </p:spPr>
        <p:txBody>
          <a:bodyPr>
            <a:noAutofit/>
          </a:bodyPr>
          <a:p>
            <a:r>
              <a:rPr 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Module 6 – Best Practices to Avoid Becoming a Victim</a:t>
            </a:r>
            <a:endParaRPr 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Personal Protection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✅ Enable Multi-Factor Authentication (MFA)</a:t>
            </a:r>
            <a:endParaRPr lang="en-US"/>
          </a:p>
          <a:p>
            <a:r>
              <a:rPr lang="en-US"/>
              <a:t>✅ Use strong, unique passwords</a:t>
            </a:r>
            <a:endParaRPr lang="en-US"/>
          </a:p>
          <a:p>
            <a:r>
              <a:rPr lang="en-US"/>
              <a:t>✅ Never share OTP codes</a:t>
            </a:r>
            <a:endParaRPr lang="en-US"/>
          </a:p>
          <a:p>
            <a:r>
              <a:rPr lang="en-US"/>
              <a:t>✅ Verify requests through official channels</a:t>
            </a:r>
            <a:endParaRPr lang="en-US"/>
          </a:p>
          <a:p>
            <a:r>
              <a:rPr lang="en-US"/>
              <a:t>✅ Don’t click suspicious links</a:t>
            </a:r>
            <a:endParaRPr lang="en-US"/>
          </a:p>
          <a:p>
            <a:r>
              <a:rPr lang="en-US"/>
              <a:t>✅ Keep software updated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872470" cy="6179820"/>
          </a:xfrm>
        </p:spPr>
        <p:txBody>
          <a:bodyPr/>
          <a:p>
            <a:r>
              <a:rPr 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Module 8 – Interactive Quiz Section</a:t>
            </a:r>
            <a:endParaRPr 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  <a:sym typeface="+mn-ea"/>
              </a:rPr>
              <a:t>Quiz 1 – Spot the Phish</a:t>
            </a:r>
            <a:b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</a:b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Question:</a:t>
            </a:r>
            <a:endParaRPr lang="en-US"/>
          </a:p>
          <a:p>
            <a:pPr marL="0" indent="0">
              <a:buNone/>
            </a:pPr>
            <a:r>
              <a:rPr lang="en-US"/>
              <a:t>You receive an email saying:</a:t>
            </a:r>
            <a:endParaRPr lang="en-US"/>
          </a:p>
          <a:p>
            <a:pPr marL="0" indent="0">
              <a:buNone/>
            </a:pPr>
            <a:r>
              <a:rPr lang="en-US"/>
              <a:t>"Your bank account will be closed in 24 hours. Click here to verify."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What are red flags?</a:t>
            </a:r>
            <a:endParaRPr lang="en-US"/>
          </a:p>
          <a:p>
            <a:pPr marL="0" indent="0">
              <a:buNone/>
            </a:pPr>
            <a:r>
              <a:rPr lang="en-US"/>
              <a:t>A) Urgency</a:t>
            </a:r>
            <a:endParaRPr lang="en-US"/>
          </a:p>
          <a:p>
            <a:pPr marL="0" indent="0">
              <a:buNone/>
            </a:pPr>
            <a:r>
              <a:rPr lang="en-US"/>
              <a:t>B) Threat</a:t>
            </a:r>
            <a:endParaRPr lang="en-US"/>
          </a:p>
          <a:p>
            <a:pPr marL="0" indent="0">
              <a:buNone/>
            </a:pPr>
            <a:r>
              <a:rPr lang="en-US"/>
              <a:t>C) Suspicious link</a:t>
            </a:r>
            <a:endParaRPr lang="en-US"/>
          </a:p>
          <a:p>
            <a:pPr marL="0" indent="0">
              <a:buNone/>
            </a:pPr>
            <a:r>
              <a:rPr lang="en-US"/>
              <a:t>D) All of the above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Correct Answer: D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Quiz 2 – Fake Website Detection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Which is legitimate?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A) paypaI-security.com</a:t>
            </a:r>
            <a:endParaRPr lang="en-US"/>
          </a:p>
          <a:p>
            <a:pPr marL="0" indent="0">
              <a:buNone/>
            </a:pPr>
            <a:r>
              <a:rPr lang="en-US"/>
              <a:t>B) paypal-login-alert.net</a:t>
            </a:r>
            <a:endParaRPr lang="en-US"/>
          </a:p>
          <a:p>
            <a:pPr marL="0" indent="0">
              <a:buNone/>
            </a:pPr>
            <a:r>
              <a:rPr lang="en-US"/>
              <a:t>C) paypal.com</a:t>
            </a:r>
            <a:endParaRPr lang="en-US"/>
          </a:p>
          <a:p>
            <a:pPr marL="0" indent="0">
              <a:buNone/>
            </a:pPr>
            <a:r>
              <a:rPr lang="en-US"/>
              <a:t>D) paypal-secure-login.ru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Correct Answer: C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cs typeface="+mj-ea"/>
              </a:rPr>
              <a:t>Quiz 3 – Social Engineering</a:t>
            </a:r>
            <a:endParaRPr lang="en-US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cs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Which tactic uses fear?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A) "You won a prize!"</a:t>
            </a:r>
            <a:endParaRPr lang="en-US"/>
          </a:p>
          <a:p>
            <a:pPr marL="0" indent="0">
              <a:buNone/>
            </a:pPr>
            <a:r>
              <a:rPr lang="en-US"/>
              <a:t>B) "Send password now."</a:t>
            </a:r>
            <a:endParaRPr lang="en-US"/>
          </a:p>
          <a:p>
            <a:pPr marL="0" indent="0">
              <a:buNone/>
            </a:pPr>
            <a:r>
              <a:rPr lang="en-US"/>
              <a:t>C) "Account hacked, act immediately!"</a:t>
            </a:r>
            <a:endParaRPr lang="en-US"/>
          </a:p>
          <a:p>
            <a:pPr marL="0" indent="0">
              <a:buNone/>
            </a:pPr>
            <a:r>
              <a:rPr lang="en-US"/>
              <a:t>D) "Free gift card!"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Correct Answer: C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3135</Words>
  <Application>WPS Presentation</Application>
  <PresentationFormat>宽屏</PresentationFormat>
  <Paragraphs>217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SimSun</vt:lpstr>
      <vt:lpstr>Wingdings</vt:lpstr>
      <vt:lpstr>Arial Black</vt:lpstr>
      <vt:lpstr>Microsoft YaHei</vt:lpstr>
      <vt:lpstr>文泉驿微米黑</vt:lpstr>
      <vt:lpstr>Arial Unicode MS</vt:lpstr>
      <vt:lpstr>SimSun</vt:lpstr>
      <vt:lpstr>SimSun</vt:lpstr>
      <vt:lpstr>Andale Mono</vt:lpstr>
      <vt:lpstr>DejaVu Serif Condensed</vt:lpstr>
      <vt:lpstr>Droid Sans Fallback</vt:lpstr>
      <vt:lpstr>Webdings</vt:lpstr>
      <vt:lpstr>DejaVu Sans</vt:lpstr>
      <vt:lpstr>文泉驿正黑</vt:lpstr>
      <vt:lpstr>东文宋体</vt:lpstr>
      <vt:lpstr>FreeMono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kharal</cp:lastModifiedBy>
  <cp:revision>8</cp:revision>
  <dcterms:created xsi:type="dcterms:W3CDTF">2026-02-17T16:34:05Z</dcterms:created>
  <dcterms:modified xsi:type="dcterms:W3CDTF">2026-02-17T16:34:05Z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